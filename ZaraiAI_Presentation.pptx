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1 - 0:00 to 0:40):</a:t>
            </a:r>
          </a:p>
          <a:p>
            <a:r>
              <a:t>Respected faculty and fellow researchers, over 65% of Pakistan's population relies directly or indirectly on agriculture, yet smallholder farmers face catastrophic post-harvest losses and yield reductions of over 30% due to unmanaged fungal, bacterial, and viral leaf diseases in Tomato, Cotton, and Wheat.</a:t>
            </a:r>
          </a:p>
          <a:p/>
          <a:p>
            <a:r>
              <a:t>Today, I present ZaraiAI—a multimodal crop intelligence system that bridges the gap between scientific extension literature and field practice using deep transfer learning, Grad-CAM visual explainability, localized weather intelligence, and grounded Retrieval-Augmented Generation.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2 - 0:40 to 1:25):</a:t>
            </a:r>
          </a:p>
          <a:p>
            <a:r>
              <a:t>Cotton, wheat, and tomato are Pakistan's economic lifeblood. However, when a pathogen like Cotton Leaf Curl Virus or Wheat Yellow Rust appears, farmers face severe bottlenecks. Extension officers cannot visit every field in time, and laboratory testing is too slow. Farmers frequently receive incorrect pesticide suggestions from local retail dealers.</a:t>
            </a:r>
          </a:p>
          <a:p/>
          <a:p>
            <a:r>
              <a:t>Furthermore, when farmers attempt to use generic AI like ChatGPT, they encounter ungrounded hallucinations—pesticides that don't exist locally, incorrect dosage rates, or dangerous violations of Pre-Harvest Intervals. There is an urgent need for a localized, scientifically grounded, multilingual AI decision-support assistant.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3 - 1:25 to 2:05):</a:t>
            </a:r>
          </a:p>
          <a:p>
            <a:r>
              <a:t>ZaraiAI solves this problem through a 3-pillar integrated architecture:</a:t>
            </a:r>
          </a:p>
          <a:p>
            <a:r>
              <a:t>1. Computer Vision: We fine-tuned transfer learning classifiers with Grad-CAM visual attention so farmers can verify what the AI is looking at.</a:t>
            </a:r>
          </a:p>
          <a:p>
            <a:r>
              <a:t>2. Grounded RAG: We created a vector knowledge base strictly curated from Tier-1 Pakistani extension manuals (Punjab Agriculture Department, CCRI Multan, and CABI PlantwisePlus). This ensures 100% verified chemicals, dosages, and safety intervals.</a:t>
            </a:r>
          </a:p>
          <a:p>
            <a:r>
              <a:t>3. Real-Time Weather: We integrated Open-Meteo live meteorology to advise farmers on whether wind drift or rain will ruin a spray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4 - 2:05 to 2:45):</a:t>
            </a:r>
          </a:p>
          <a:p>
            <a:r>
              <a:t>Here is the technical stack powering ZaraiAI:</a:t>
            </a:r>
          </a:p>
          <a:p>
            <a:r>
              <a:t>For Computer Vision, we used PyTorch with EfficientNet-B0 backbones, incorporating custom Grad-CAM hooks. We enforced strict SHA256 image deduplication to eliminate data leakage.</a:t>
            </a:r>
          </a:p>
          <a:p>
            <a:r>
              <a:t>For Knowledge Retrieval, we engineered a semantic search engine using dense embeddings with crop metadata filtering.</a:t>
            </a:r>
          </a:p>
          <a:p>
            <a:r>
              <a:t>For Language Synthesis, we integrated universal LLM support (Qwen 3.7 Plus and Groq) with robust anti-hallucination prompt guardrails, plus an offline deterministic fallback engine.</a:t>
            </a:r>
          </a:p>
          <a:p>
            <a:r>
              <a:t>Finally, the entire application is containerized and hosted live on Streamlit Cloud with single-threaded PyTorch memory optimizations.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5 - 2:45 to 3:30):</a:t>
            </a:r>
          </a:p>
          <a:p>
            <a:r>
              <a:t>Here is our 5-step pipeline execution flow:</a:t>
            </a:r>
          </a:p>
          <a:p>
            <a:r>
              <a:t>1. Ingestion: The farmer uploads a leaf photo and selects their district.</a:t>
            </a:r>
          </a:p>
          <a:p>
            <a:r>
              <a:t>2. Vision Diagnosis: EfficientNet-B0 computes class probabilities, while Grad-CAM visualizes the exact infected area.</a:t>
            </a:r>
          </a:p>
          <a:p>
            <a:r>
              <a:t>3. Knowledge &amp; Weather: The retriever fetches crop-specific IPM guides, while Open-Meteo evaluates temperature, wind, and rain.</a:t>
            </a:r>
          </a:p>
          <a:p>
            <a:r>
              <a:t>4. Safety &amp; Synthesis: The LLM processes the evidence within safety constraints, verifying chemical dosages and spraying suitability.</a:t>
            </a:r>
          </a:p>
          <a:p>
            <a:r>
              <a:t>5. Farmer Action Plan: The farmer receives a clear, multilingual advisory with cited sources in under 2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6 - 3:30 to 4:15):</a:t>
            </a:r>
          </a:p>
          <a:p>
            <a:r>
              <a:t>We tested ZaraiAI on strict test splits with zero partition overlap. On Cotton, our model reached 98.27% accuracy; on Wheat, 97.30% accuracy, both inferring in under 30 milliseconds. For Tomato, field datasets with complex backgrounds achieved 73.11% accuracy, where our calibrated 0.65 uncertainty threshold actively warns farmers whenever confidence drops.</a:t>
            </a:r>
          </a:p>
          <a:p/>
          <a:p>
            <a:r>
              <a:t>In our RAG benchmark across 30 multilingual queries, we achieved a 100% grounded retrieval rate with zero hallucinations. The live application is fully functional across three tabs: Diagnosis, Multilingual Chat, and Knowledge Base Manifest.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7 - 4:15 to 5:00):</a:t>
            </a:r>
          </a:p>
          <a:p>
            <a:r>
              <a:t>To conclude: ZaraiAI proves that AI in agriculture must be more than a simple classification label. By combining visual explainability through Grad-CAM, authoritative IPM extension science through RAG, and real-time weather safety, we provide farmers with actionable, safe, and trustworthy decisions.</a:t>
            </a:r>
          </a:p>
          <a:p/>
          <a:p>
            <a:r>
              <a:t>Our future work will focus on offline edge deployment and WhatsApp voice bots in regional languages like Punjabi and Sindhi. Thank you for your attention, and I now invite any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05840"/>
            <a:ext cx="2926080" cy="4114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SMART AGRICULTURE AI PROJECT</a:t>
            </a:r>
          </a:p>
        </p:txBody>
      </p:sp>
      <p:sp>
        <p:nvSpPr>
          <p:cNvPr id="5" name="TextBox 4"/>
          <p:cNvSpPr txBox="1"/>
          <p:nvPr/>
        </p:nvSpPr>
        <p:spPr>
          <a:xfrm>
            <a:off x="914400" y="1600200"/>
            <a:ext cx="10362895" cy="1645920"/>
          </a:xfrm>
          <a:prstGeom prst="rect">
            <a:avLst/>
          </a:prstGeom>
          <a:noFill/>
        </p:spPr>
        <p:txBody>
          <a:bodyPr wrap="square">
            <a:spAutoFit/>
          </a:bodyPr>
          <a:lstStyle/>
          <a:p>
            <a:pPr>
              <a:defRPr sz="4000" b="1">
                <a:solidFill>
                  <a:srgbClr val="FFFFFF"/>
                </a:solidFill>
                <a:latin typeface="Calibri"/>
              </a:defRPr>
            </a:pPr>
            <a:r>
              <a:t>🌱 ZaraiAI (زرعی اے آئی)</a:t>
            </a:r>
          </a:p>
          <a:p>
            <a:pPr>
              <a:spcBef>
                <a:spcPts val="800"/>
              </a:spcBef>
              <a:defRPr sz="2000">
                <a:solidFill>
                  <a:srgbClr val="A5D6A7"/>
                </a:solidFill>
                <a:latin typeface="Calibri"/>
              </a:defRPr>
            </a:pPr>
            <a:r>
              <a:t>Multilingual AI Crop Intelligence &amp; Grounded Decision Support</a:t>
            </a:r>
          </a:p>
        </p:txBody>
      </p:sp>
      <p:sp>
        <p:nvSpPr>
          <p:cNvPr id="6" name="Rounded Rectangle 5"/>
          <p:cNvSpPr/>
          <p:nvPr/>
        </p:nvSpPr>
        <p:spPr>
          <a:xfrm>
            <a:off x="914400" y="3474720"/>
            <a:ext cx="3200400" cy="1463040"/>
          </a:xfrm>
          <a:prstGeom prst="roundRect">
            <a:avLst/>
          </a:prstGeom>
          <a:solidFill>
            <a:srgbClr val="1A4D3A"/>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 Tomato</a:t>
            </a:r>
          </a:p>
          <a:p>
            <a:pPr>
              <a:defRPr sz="1100" i="1">
                <a:solidFill>
                  <a:srgbClr val="A5D6A7"/>
                </a:solidFill>
              </a:defRPr>
            </a:pPr>
            <a:r>
              <a:t>Scientific: Solanum lycopersicum</a:t>
            </a:r>
          </a:p>
          <a:p>
            <a:pPr>
              <a:spcBef>
                <a:spcPts val="400"/>
              </a:spcBef>
              <a:defRPr sz="1000">
                <a:solidFill>
                  <a:srgbClr val="DCEDC8"/>
                </a:solidFill>
              </a:defRPr>
            </a:pPr>
            <a:r>
              <a:t>Scope: Early/Late Blight, Mold, TYLCV</a:t>
            </a:r>
          </a:p>
        </p:txBody>
      </p:sp>
      <p:sp>
        <p:nvSpPr>
          <p:cNvPr id="7" name="Rounded Rectangle 6"/>
          <p:cNvSpPr/>
          <p:nvPr/>
        </p:nvSpPr>
        <p:spPr>
          <a:xfrm>
            <a:off x="4389120" y="3474720"/>
            <a:ext cx="3200400" cy="1463040"/>
          </a:xfrm>
          <a:prstGeom prst="roundRect">
            <a:avLst/>
          </a:prstGeom>
          <a:solidFill>
            <a:srgbClr val="1A4D3A"/>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 Cotton</a:t>
            </a:r>
          </a:p>
          <a:p>
            <a:pPr>
              <a:defRPr sz="1100" i="1">
                <a:solidFill>
                  <a:srgbClr val="A5D6A7"/>
                </a:solidFill>
              </a:defRPr>
            </a:pPr>
            <a:r>
              <a:t>Scientific: Gossypium hirsutum</a:t>
            </a:r>
          </a:p>
          <a:p>
            <a:pPr>
              <a:spcBef>
                <a:spcPts val="400"/>
              </a:spcBef>
              <a:defRPr sz="1000">
                <a:solidFill>
                  <a:srgbClr val="DCEDC8"/>
                </a:solidFill>
              </a:defRPr>
            </a:pPr>
            <a:r>
              <a:t>Scope: CLCuV, Blight, Fusarium/Verticillium</a:t>
            </a:r>
          </a:p>
        </p:txBody>
      </p:sp>
      <p:sp>
        <p:nvSpPr>
          <p:cNvPr id="8" name="Rounded Rectangle 7"/>
          <p:cNvSpPr/>
          <p:nvPr/>
        </p:nvSpPr>
        <p:spPr>
          <a:xfrm>
            <a:off x="7863840" y="3474720"/>
            <a:ext cx="3200400" cy="1463040"/>
          </a:xfrm>
          <a:prstGeom prst="roundRect">
            <a:avLst/>
          </a:prstGeom>
          <a:solidFill>
            <a:srgbClr val="1A4D3A"/>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 Wheat</a:t>
            </a:r>
          </a:p>
          <a:p>
            <a:pPr>
              <a:defRPr sz="1100" i="1">
                <a:solidFill>
                  <a:srgbClr val="A5D6A7"/>
                </a:solidFill>
              </a:defRPr>
            </a:pPr>
            <a:r>
              <a:t>Scientific: Triticum aestivum</a:t>
            </a:r>
          </a:p>
          <a:p>
            <a:pPr>
              <a:spcBef>
                <a:spcPts val="400"/>
              </a:spcBef>
              <a:defRPr sz="1000">
                <a:solidFill>
                  <a:srgbClr val="DCEDC8"/>
                </a:solidFill>
              </a:defRPr>
            </a:pPr>
            <a:r>
              <a:t>Scope: Rusts, Black Point, Blast, Blotch</a:t>
            </a:r>
          </a:p>
        </p:txBody>
      </p:sp>
      <p:sp>
        <p:nvSpPr>
          <p:cNvPr id="9" name="Rectangle 8"/>
          <p:cNvSpPr/>
          <p:nvPr/>
        </p:nvSpPr>
        <p:spPr>
          <a:xfrm>
            <a:off x="914400" y="5303520"/>
            <a:ext cx="10362895" cy="868680"/>
          </a:xfrm>
          <a:prstGeom prst="rect">
            <a:avLst/>
          </a:prstGeom>
          <a:solidFill>
            <a:srgbClr val="0C2D21"/>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Presenter: [Hussain Ali / Presenter Name]   •   Institution: [Department of Computer Science / Institution Name]</a:t>
            </a:r>
          </a:p>
          <a:p>
            <a:pPr>
              <a:defRPr sz="1100">
                <a:solidFill>
                  <a:srgbClr val="FFD54F"/>
                </a:solidFill>
              </a:defRPr>
            </a:pPr>
            <a:r>
              <a:t>Live Deployment: https://zaraiaitomatocottonwheat-sgmc3ltf5d8j8bujbrbd6b.streamlit.app/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2E7D32"/>
                </a:solidFill>
                <a:latin typeface="Calibri"/>
              </a:defRPr>
            </a:pPr>
            <a:r>
              <a:t>ZARAI.AI (زرعی اے آئی)</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103B2B"/>
                </a:solidFill>
                <a:latin typeface="Calibri"/>
              </a:defRPr>
            </a:pPr>
            <a:r>
              <a:t>Background &amp; Problem Statement: The Agronomic Diagnostic Gap</a:t>
            </a:r>
          </a:p>
        </p:txBody>
      </p:sp>
      <p:sp>
        <p:nvSpPr>
          <p:cNvPr id="5" name="TextBox 4"/>
          <p:cNvSpPr txBox="1"/>
          <p:nvPr/>
        </p:nvSpPr>
        <p:spPr>
          <a:xfrm>
            <a:off x="731520" y="6400800"/>
            <a:ext cx="10698480" cy="320040"/>
          </a:xfrm>
          <a:prstGeom prst="rect">
            <a:avLst/>
          </a:prstGeom>
          <a:noFill/>
        </p:spPr>
        <p:txBody>
          <a:bodyPr wrap="square" lIns="0" tIns="0" rIns="0" bIns="0">
            <a:spAutoFit/>
          </a:bodyPr>
          <a:lstStyle/>
          <a:p>
            <a:pPr>
              <a:defRPr sz="950">
                <a:solidFill>
                  <a:srgbClr val="64748B"/>
                </a:solidFill>
                <a:latin typeface="Calibri"/>
              </a:defRPr>
            </a:pPr>
            <a:r>
              <a:t>ZaraiAI • AI-Powered Crop Intelligence for Pakistan • University AI Capstone Presentation</a:t>
            </a:r>
          </a:p>
        </p:txBody>
      </p:sp>
      <p:sp>
        <p:nvSpPr>
          <p:cNvPr id="6" name="Rounded Rectangle 5"/>
          <p:cNvSpPr/>
          <p:nvPr/>
        </p:nvSpPr>
        <p:spPr>
          <a:xfrm>
            <a:off x="731520" y="1463040"/>
            <a:ext cx="3474720" cy="4572000"/>
          </a:xfrm>
          <a:prstGeom prst="roundRect">
            <a:avLst/>
          </a:prstGeom>
          <a:solidFill>
            <a:srgbClr val="F8FAF9"/>
          </a:solidFill>
          <a:ln w="19050">
            <a:solidFill>
              <a:srgbClr val="103B2B"/>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500" b="1">
                <a:solidFill>
                  <a:srgbClr val="103B2B"/>
                </a:solidFill>
              </a:defRPr>
            </a:pPr>
            <a:r>
              <a:t>🚨 High Stakes for Pakistani Agriculture</a:t>
            </a:r>
          </a:p>
          <a:p>
            <a:pPr>
              <a:spcBef>
                <a:spcPts val="1200"/>
              </a:spcBef>
              <a:defRPr sz="1250">
                <a:solidFill>
                  <a:srgbClr val="1E293B"/>
                </a:solidFill>
              </a:defRPr>
            </a:pPr>
            <a:r>
              <a:t>• Tomato, Cotton, and Wheat constitute over 60% of Pakistan's agricultural GDP and national food security.</a:t>
            </a:r>
          </a:p>
          <a:p>
            <a:pPr>
              <a:spcBef>
                <a:spcPts val="1200"/>
              </a:spcBef>
              <a:defRPr sz="1250">
                <a:solidFill>
                  <a:srgbClr val="1E293B"/>
                </a:solidFill>
              </a:defRPr>
            </a:pPr>
            <a:r>
              <a:t>• Epidemics such as Cotton Leaf Curl Virus (CLCuV) and Wheat Rust cause devastating economic losses (&gt;30%).</a:t>
            </a:r>
          </a:p>
          <a:p>
            <a:pPr>
              <a:spcBef>
                <a:spcPts val="1200"/>
              </a:spcBef>
              <a:defRPr sz="1250">
                <a:solidFill>
                  <a:srgbClr val="1E293B"/>
                </a:solidFill>
              </a:defRPr>
            </a:pPr>
            <a:r>
              <a:t>• Smallholder farmers bear the brunt of early-season diagnostic failures.</a:t>
            </a:r>
          </a:p>
        </p:txBody>
      </p:sp>
      <p:sp>
        <p:nvSpPr>
          <p:cNvPr id="7" name="Rounded Rectangle 6"/>
          <p:cNvSpPr/>
          <p:nvPr/>
        </p:nvSpPr>
        <p:spPr>
          <a:xfrm>
            <a:off x="4343400" y="1463040"/>
            <a:ext cx="3474720" cy="4572000"/>
          </a:xfrm>
          <a:prstGeom prst="roundRect">
            <a:avLst/>
          </a:prstGeom>
          <a:solidFill>
            <a:srgbClr val="F8FAF9"/>
          </a:solidFill>
          <a:ln w="19050">
            <a:solidFill>
              <a:srgbClr val="103B2B"/>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500" b="1">
                <a:solidFill>
                  <a:srgbClr val="103B2B"/>
                </a:solidFill>
              </a:defRPr>
            </a:pPr>
            <a:r>
              <a:t>⚠️ Limitations of Traditional Diagnosis</a:t>
            </a:r>
          </a:p>
          <a:p>
            <a:pPr>
              <a:spcBef>
                <a:spcPts val="1200"/>
              </a:spcBef>
              <a:defRPr sz="1250">
                <a:solidFill>
                  <a:srgbClr val="1E293B"/>
                </a:solidFill>
              </a:defRPr>
            </a:pPr>
            <a:r>
              <a:t>• Severe shortage of agricultural extension officers (often 1 officer per 1,500+ farming families).</a:t>
            </a:r>
          </a:p>
          <a:p>
            <a:pPr>
              <a:spcBef>
                <a:spcPts val="1200"/>
              </a:spcBef>
              <a:defRPr sz="1250">
                <a:solidFill>
                  <a:srgbClr val="1E293B"/>
                </a:solidFill>
              </a:defRPr>
            </a:pPr>
            <a:r>
              <a:t>• Laboratory diagnostic tests take several days, while fungal sporulation spreads across acres in hours.</a:t>
            </a:r>
          </a:p>
          <a:p>
            <a:pPr>
              <a:spcBef>
                <a:spcPts val="1200"/>
              </a:spcBef>
              <a:defRPr sz="1250">
                <a:solidFill>
                  <a:srgbClr val="1E293B"/>
                </a:solidFill>
              </a:defRPr>
            </a:pPr>
            <a:r>
              <a:t>• Reliance on unscientific word-of-mouth or commercial pesticide dealers leads to incorrect spraying.</a:t>
            </a:r>
          </a:p>
        </p:txBody>
      </p:sp>
      <p:sp>
        <p:nvSpPr>
          <p:cNvPr id="8" name="Rounded Rectangle 7"/>
          <p:cNvSpPr/>
          <p:nvPr/>
        </p:nvSpPr>
        <p:spPr>
          <a:xfrm>
            <a:off x="7955280" y="1463040"/>
            <a:ext cx="3474720" cy="4572000"/>
          </a:xfrm>
          <a:prstGeom prst="roundRect">
            <a:avLst/>
          </a:prstGeom>
          <a:solidFill>
            <a:srgbClr val="F8FAF9"/>
          </a:solidFill>
          <a:ln w="1905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500" b="1">
                <a:solidFill>
                  <a:srgbClr val="E65100"/>
                </a:solidFill>
              </a:defRPr>
            </a:pPr>
            <a:r>
              <a:t>🤖 The Flaw in Generic AI Chatbots</a:t>
            </a:r>
          </a:p>
          <a:p>
            <a:pPr>
              <a:spcBef>
                <a:spcPts val="1200"/>
              </a:spcBef>
              <a:defRPr sz="1250">
                <a:solidFill>
                  <a:srgbClr val="1E293B"/>
                </a:solidFill>
              </a:defRPr>
            </a:pPr>
            <a:r>
              <a:t>• Standard LLMs suffer from dangerous hallucinations, inventing unverified active ingredients and dosages.</a:t>
            </a:r>
          </a:p>
          <a:p>
            <a:pPr>
              <a:spcBef>
                <a:spcPts val="1200"/>
              </a:spcBef>
              <a:defRPr sz="1250">
                <a:solidFill>
                  <a:srgbClr val="1E293B"/>
                </a:solidFill>
              </a:defRPr>
            </a:pPr>
            <a:r>
              <a:t>• Zero Pre-Harvest Interval (PHI) awareness poses severe pesticide toxicity risks to human consumers.</a:t>
            </a:r>
          </a:p>
          <a:p>
            <a:pPr>
              <a:spcBef>
                <a:spcPts val="1200"/>
              </a:spcBef>
              <a:defRPr sz="1250">
                <a:solidFill>
                  <a:srgbClr val="1E293B"/>
                </a:solidFill>
              </a:defRPr>
            </a:pPr>
            <a:r>
              <a:t>• Language and literacy barrier: Most authoritative scientific resources are locked in technical English.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2E7D32"/>
                </a:solidFill>
                <a:latin typeface="Calibri"/>
              </a:defRPr>
            </a:pPr>
            <a:r>
              <a:t>ZARAI.AI (زرعی اے آئی)</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103B2B"/>
                </a:solidFill>
                <a:latin typeface="Calibri"/>
              </a:defRPr>
            </a:pPr>
            <a:r>
              <a:t>Proposed Solution: ZaraiAI 3-Pillar Decision Support Architecture</a:t>
            </a:r>
          </a:p>
        </p:txBody>
      </p:sp>
      <p:sp>
        <p:nvSpPr>
          <p:cNvPr id="5" name="TextBox 4"/>
          <p:cNvSpPr txBox="1"/>
          <p:nvPr/>
        </p:nvSpPr>
        <p:spPr>
          <a:xfrm>
            <a:off x="731520" y="6400800"/>
            <a:ext cx="10698480" cy="320040"/>
          </a:xfrm>
          <a:prstGeom prst="rect">
            <a:avLst/>
          </a:prstGeom>
          <a:noFill/>
        </p:spPr>
        <p:txBody>
          <a:bodyPr wrap="square" lIns="0" tIns="0" rIns="0" bIns="0">
            <a:spAutoFit/>
          </a:bodyPr>
          <a:lstStyle/>
          <a:p>
            <a:pPr>
              <a:defRPr sz="950">
                <a:solidFill>
                  <a:srgbClr val="64748B"/>
                </a:solidFill>
                <a:latin typeface="Calibri"/>
              </a:defRPr>
            </a:pPr>
            <a:r>
              <a:t>ZaraiAI • AI-Powered Crop Intelligence for Pakistan • University AI Capstone Presentation</a:t>
            </a:r>
          </a:p>
        </p:txBody>
      </p:sp>
      <p:sp>
        <p:nvSpPr>
          <p:cNvPr id="6" name="Rounded Rectangle 5"/>
          <p:cNvSpPr/>
          <p:nvPr/>
        </p:nvSpPr>
        <p:spPr>
          <a:xfrm>
            <a:off x="731520" y="1463040"/>
            <a:ext cx="3474720" cy="4572000"/>
          </a:xfrm>
          <a:prstGeom prst="roundRect">
            <a:avLst/>
          </a:prstGeom>
          <a:solidFill>
            <a:srgbClr val="F8FAF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500" b="1">
                <a:solidFill>
                  <a:srgbClr val="103B2B"/>
                </a:solidFill>
              </a:defRPr>
            </a:pPr>
            <a:r>
              <a:t>👁️  1. Computer Vision &amp; Explainability</a:t>
            </a:r>
          </a:p>
          <a:p>
            <a:pPr>
              <a:spcBef>
                <a:spcPts val="400"/>
              </a:spcBef>
              <a:defRPr sz="1100" b="1">
                <a:solidFill>
                  <a:srgbClr val="2E7D32"/>
                </a:solidFill>
              </a:defRPr>
            </a:pPr>
            <a:r>
              <a:t>EfficientNet-B0 + Grad-CAM</a:t>
            </a:r>
          </a:p>
          <a:p>
            <a:pPr>
              <a:spcBef>
                <a:spcPts val="1200"/>
              </a:spcBef>
              <a:defRPr sz="1250">
                <a:solidFill>
                  <a:srgbClr val="1E293B"/>
                </a:solidFill>
              </a:defRPr>
            </a:pPr>
            <a:r>
              <a:t>• Instant disease classification from smartphone leaf images.</a:t>
            </a:r>
          </a:p>
          <a:p>
            <a:pPr>
              <a:spcBef>
                <a:spcPts val="1200"/>
              </a:spcBef>
              <a:defRPr sz="1250">
                <a:solidFill>
                  <a:srgbClr val="1E293B"/>
                </a:solidFill>
              </a:defRPr>
            </a:pPr>
            <a:r>
              <a:t>• Generates visual Grad-CAM attention heatmaps showing infected lesion areas.</a:t>
            </a:r>
          </a:p>
          <a:p>
            <a:pPr>
              <a:spcBef>
                <a:spcPts val="1200"/>
              </a:spcBef>
              <a:defRPr sz="1250">
                <a:solidFill>
                  <a:srgbClr val="1E293B"/>
                </a:solidFill>
              </a:defRPr>
            </a:pPr>
            <a:r>
              <a:t>• Active confidence calibration (&lt;0.65 threshold triggers uncertainty warning).</a:t>
            </a:r>
          </a:p>
        </p:txBody>
      </p:sp>
      <p:sp>
        <p:nvSpPr>
          <p:cNvPr id="7" name="Rounded Rectangle 6"/>
          <p:cNvSpPr/>
          <p:nvPr/>
        </p:nvSpPr>
        <p:spPr>
          <a:xfrm>
            <a:off x="4343400" y="1463040"/>
            <a:ext cx="3474720" cy="4572000"/>
          </a:xfrm>
          <a:prstGeom prst="roundRect">
            <a:avLst/>
          </a:prstGeom>
          <a:solidFill>
            <a:srgbClr val="F8FAF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500" b="1">
                <a:solidFill>
                  <a:srgbClr val="103B2B"/>
                </a:solidFill>
              </a:defRPr>
            </a:pPr>
            <a:r>
              <a:t>📚  2. Authoritative Agricultural RAG</a:t>
            </a:r>
          </a:p>
          <a:p>
            <a:pPr>
              <a:spcBef>
                <a:spcPts val="400"/>
              </a:spcBef>
              <a:defRPr sz="1100" b="1">
                <a:solidFill>
                  <a:srgbClr val="2E7D32"/>
                </a:solidFill>
              </a:defRPr>
            </a:pPr>
            <a:r>
              <a:t>Tier-1 Pakistani Extension Science</a:t>
            </a:r>
          </a:p>
          <a:p>
            <a:pPr>
              <a:spcBef>
                <a:spcPts val="1200"/>
              </a:spcBef>
              <a:defRPr sz="1250">
                <a:solidFill>
                  <a:srgbClr val="1E293B"/>
                </a:solidFill>
              </a:defRPr>
            </a:pPr>
            <a:r>
              <a:t>• Crop-isolated semantic vector retrieval over official publications.</a:t>
            </a:r>
          </a:p>
          <a:p>
            <a:pPr>
              <a:spcBef>
                <a:spcPts val="1200"/>
              </a:spcBef>
              <a:defRPr sz="1250">
                <a:solidFill>
                  <a:srgbClr val="1E293B"/>
                </a:solidFill>
              </a:defRPr>
            </a:pPr>
            <a:r>
              <a:t>• Strictly cites Punjab Agri Dept, CCRI Multan, AARI, NARC, and CABI Pakistan.</a:t>
            </a:r>
          </a:p>
          <a:p>
            <a:pPr>
              <a:spcBef>
                <a:spcPts val="1200"/>
              </a:spcBef>
              <a:defRPr sz="1250">
                <a:solidFill>
                  <a:srgbClr val="1E293B"/>
                </a:solidFill>
              </a:defRPr>
            </a:pPr>
            <a:r>
              <a:t>• Integrates approved active ingredients, exact dosage rates, and PHI safety rules.</a:t>
            </a:r>
          </a:p>
        </p:txBody>
      </p:sp>
      <p:sp>
        <p:nvSpPr>
          <p:cNvPr id="8" name="Rounded Rectangle 7"/>
          <p:cNvSpPr/>
          <p:nvPr/>
        </p:nvSpPr>
        <p:spPr>
          <a:xfrm>
            <a:off x="7955280" y="1463040"/>
            <a:ext cx="3474720" cy="4572000"/>
          </a:xfrm>
          <a:prstGeom prst="roundRect">
            <a:avLst/>
          </a:prstGeom>
          <a:solidFill>
            <a:srgbClr val="F8FAF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500" b="1">
                <a:solidFill>
                  <a:srgbClr val="103B2B"/>
                </a:solidFill>
              </a:defRPr>
            </a:pPr>
            <a:r>
              <a:t>🌦️  3. Weather-Aware Spray Advisor</a:t>
            </a:r>
          </a:p>
          <a:p>
            <a:pPr>
              <a:spcBef>
                <a:spcPts val="400"/>
              </a:spcBef>
              <a:defRPr sz="1100" b="1">
                <a:solidFill>
                  <a:srgbClr val="2E7D32"/>
                </a:solidFill>
              </a:defRPr>
            </a:pPr>
            <a:r>
              <a:t>Live Open-Meteo Integration</a:t>
            </a:r>
          </a:p>
          <a:p>
            <a:pPr>
              <a:spcBef>
                <a:spcPts val="1200"/>
              </a:spcBef>
              <a:defRPr sz="1250">
                <a:solidFill>
                  <a:srgbClr val="1E293B"/>
                </a:solidFill>
              </a:defRPr>
            </a:pPr>
            <a:r>
              <a:t>• Evaluates real-time rain probability, wind drift speed, and temperature.</a:t>
            </a:r>
          </a:p>
          <a:p>
            <a:pPr>
              <a:spcBef>
                <a:spcPts val="1200"/>
              </a:spcBef>
              <a:defRPr sz="1250">
                <a:solidFill>
                  <a:srgbClr val="1E293B"/>
                </a:solidFill>
              </a:defRPr>
            </a:pPr>
            <a:r>
              <a:t>• Generates immediate spray safety flags (Safe vs. Suboptimal vs. Unsafe).</a:t>
            </a:r>
          </a:p>
          <a:p>
            <a:pPr>
              <a:spcBef>
                <a:spcPts val="1200"/>
              </a:spcBef>
              <a:defRPr sz="1250">
                <a:solidFill>
                  <a:srgbClr val="1E293B"/>
                </a:solidFill>
              </a:defRPr>
            </a:pPr>
            <a:r>
              <a:t>• Communicated natively in Urdu (اردو), Roman Urdu, and English.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2E7D32"/>
                </a:solidFill>
                <a:latin typeface="Calibri"/>
              </a:defRPr>
            </a:pPr>
            <a:r>
              <a:t>ZARAI.AI (زرعی اے آئی)</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103B2B"/>
                </a:solidFill>
                <a:latin typeface="Calibri"/>
              </a:defRPr>
            </a:pPr>
            <a:r>
              <a:t>Technologies &amp; AI Concepts: Robust, Modular Engineering</a:t>
            </a:r>
          </a:p>
        </p:txBody>
      </p:sp>
      <p:sp>
        <p:nvSpPr>
          <p:cNvPr id="5" name="TextBox 4"/>
          <p:cNvSpPr txBox="1"/>
          <p:nvPr/>
        </p:nvSpPr>
        <p:spPr>
          <a:xfrm>
            <a:off x="731520" y="6400800"/>
            <a:ext cx="10698480" cy="320040"/>
          </a:xfrm>
          <a:prstGeom prst="rect">
            <a:avLst/>
          </a:prstGeom>
          <a:noFill/>
        </p:spPr>
        <p:txBody>
          <a:bodyPr wrap="square" lIns="0" tIns="0" rIns="0" bIns="0">
            <a:spAutoFit/>
          </a:bodyPr>
          <a:lstStyle/>
          <a:p>
            <a:pPr>
              <a:defRPr sz="950">
                <a:solidFill>
                  <a:srgbClr val="64748B"/>
                </a:solidFill>
                <a:latin typeface="Calibri"/>
              </a:defRPr>
            </a:pPr>
            <a:r>
              <a:t>ZaraiAI • AI-Powered Crop Intelligence for Pakistan • University AI Capstone Presentation</a:t>
            </a:r>
          </a:p>
        </p:txBody>
      </p:sp>
      <p:sp>
        <p:nvSpPr>
          <p:cNvPr id="6" name="Rounded Rectangle 5"/>
          <p:cNvSpPr/>
          <p:nvPr/>
        </p:nvSpPr>
        <p:spPr>
          <a:xfrm>
            <a:off x="731520" y="1463040"/>
            <a:ext cx="5257800" cy="2194560"/>
          </a:xfrm>
          <a:prstGeom prst="roundRect">
            <a:avLst/>
          </a:prstGeom>
          <a:solidFill>
            <a:srgbClr val="F8FAF9"/>
          </a:solidFill>
          <a:ln w="15240">
            <a:solidFill>
              <a:srgbClr val="C8E1CD"/>
            </a:solidFill>
          </a:ln>
        </p:spPr>
        <p:style>
          <a:lnRef idx="1">
            <a:schemeClr val="accent1"/>
          </a:lnRef>
          <a:fillRef idx="3">
            <a:schemeClr val="accent1"/>
          </a:fillRef>
          <a:effectRef idx="2">
            <a:schemeClr val="accent1"/>
          </a:effectRef>
          <a:fontRef idx="minor">
            <a:schemeClr val="lt1"/>
          </a:fontRef>
        </p:style>
        <p:txBody>
          <a:bodyPr rtlCol="0" anchor="ctr" wrap="square" tIns="164592" lIns="182880" rIns="182880"/>
          <a:lstStyle/>
          <a:p>
            <a:pPr algn="ctr">
              <a:defRPr sz="1400" b="1">
                <a:solidFill>
                  <a:srgbClr val="103B2B"/>
                </a:solidFill>
              </a:defRPr>
            </a:pPr>
            <a:r>
              <a:t>🧠 Deep Learning &amp; Vision</a:t>
            </a:r>
          </a:p>
          <a:p>
            <a:pPr>
              <a:spcBef>
                <a:spcPts val="200"/>
              </a:spcBef>
              <a:defRPr sz="1100" b="1">
                <a:solidFill>
                  <a:srgbClr val="2E7D32"/>
                </a:solidFill>
              </a:defRPr>
            </a:pPr>
            <a:r>
              <a:t>PyTorch • Torchvision • Grad-CAM</a:t>
            </a:r>
          </a:p>
          <a:p>
            <a:pPr>
              <a:spcBef>
                <a:spcPts val="400"/>
              </a:spcBef>
              <a:defRPr sz="1150">
                <a:solidFill>
                  <a:srgbClr val="1E293B"/>
                </a:solidFill>
              </a:defRPr>
            </a:pPr>
            <a:r>
              <a:t>• Transfer learning backbone: EfficientNet-B0 fine-tuned on verified field datasets.</a:t>
            </a:r>
          </a:p>
          <a:p>
            <a:pPr>
              <a:spcBef>
                <a:spcPts val="400"/>
              </a:spcBef>
              <a:defRPr sz="1150">
                <a:solidFill>
                  <a:srgbClr val="1E293B"/>
                </a:solidFill>
              </a:defRPr>
            </a:pPr>
            <a:r>
              <a:t>• Gradient-weighted Class Activation Mapping (Grad-CAM) hooks on final convolutional features.</a:t>
            </a:r>
          </a:p>
          <a:p>
            <a:pPr>
              <a:spcBef>
                <a:spcPts val="400"/>
              </a:spcBef>
              <a:defRPr sz="1150">
                <a:solidFill>
                  <a:srgbClr val="1E293B"/>
                </a:solidFill>
              </a:defRPr>
            </a:pPr>
            <a:r>
              <a:t>• SHA256 image-level deduplication to guarantee zero data leakage between train and test splits.</a:t>
            </a:r>
          </a:p>
        </p:txBody>
      </p:sp>
      <p:sp>
        <p:nvSpPr>
          <p:cNvPr id="7" name="Rounded Rectangle 6"/>
          <p:cNvSpPr/>
          <p:nvPr/>
        </p:nvSpPr>
        <p:spPr>
          <a:xfrm>
            <a:off x="6172200" y="1463040"/>
            <a:ext cx="5257800" cy="2194560"/>
          </a:xfrm>
          <a:prstGeom prst="roundRect">
            <a:avLst/>
          </a:prstGeom>
          <a:solidFill>
            <a:srgbClr val="F8FAF9"/>
          </a:solidFill>
          <a:ln w="15240">
            <a:solidFill>
              <a:srgbClr val="C8E1CD"/>
            </a:solidFill>
          </a:ln>
        </p:spPr>
        <p:style>
          <a:lnRef idx="1">
            <a:schemeClr val="accent1"/>
          </a:lnRef>
          <a:fillRef idx="3">
            <a:schemeClr val="accent1"/>
          </a:fillRef>
          <a:effectRef idx="2">
            <a:schemeClr val="accent1"/>
          </a:effectRef>
          <a:fontRef idx="minor">
            <a:schemeClr val="lt1"/>
          </a:fontRef>
        </p:style>
        <p:txBody>
          <a:bodyPr rtlCol="0" anchor="ctr" wrap="square" tIns="164592" lIns="182880" rIns="182880"/>
          <a:lstStyle/>
          <a:p>
            <a:pPr algn="ctr">
              <a:defRPr sz="1400" b="1">
                <a:solidFill>
                  <a:srgbClr val="103B2B"/>
                </a:solidFill>
              </a:defRPr>
            </a:pPr>
            <a:r>
              <a:t>🔍 Semantic Retrieval &amp; RAG</a:t>
            </a:r>
          </a:p>
          <a:p>
            <a:pPr>
              <a:spcBef>
                <a:spcPts val="200"/>
              </a:spcBef>
              <a:defRPr sz="1100" b="1">
                <a:solidFill>
                  <a:srgbClr val="2E7D32"/>
                </a:solidFill>
              </a:defRPr>
            </a:pPr>
            <a:r>
              <a:t>Multilingual Embeddings • Vector Store</a:t>
            </a:r>
          </a:p>
          <a:p>
            <a:pPr>
              <a:spcBef>
                <a:spcPts val="400"/>
              </a:spcBef>
              <a:defRPr sz="1150">
                <a:solidFill>
                  <a:srgbClr val="1E293B"/>
                </a:solidFill>
              </a:defRPr>
            </a:pPr>
            <a:r>
              <a:t>• 384-dimensional dense semantic vectors with crop metadata isolation filtering.</a:t>
            </a:r>
          </a:p>
          <a:p>
            <a:pPr>
              <a:spcBef>
                <a:spcPts val="400"/>
              </a:spcBef>
              <a:defRPr sz="1150">
                <a:solidFill>
                  <a:srgbClr val="1E293B"/>
                </a:solidFill>
              </a:defRPr>
            </a:pPr>
            <a:r>
              <a:t>• Cosine similarity ranking over chunked authoritative extension guides.</a:t>
            </a:r>
          </a:p>
          <a:p>
            <a:pPr>
              <a:spcBef>
                <a:spcPts val="400"/>
              </a:spcBef>
              <a:defRPr sz="1150">
                <a:solidFill>
                  <a:srgbClr val="1E293B"/>
                </a:solidFill>
              </a:defRPr>
            </a:pPr>
            <a:r>
              <a:t>• Strict citation engine outputting publisher, publication year, and source section.</a:t>
            </a:r>
          </a:p>
        </p:txBody>
      </p:sp>
      <p:sp>
        <p:nvSpPr>
          <p:cNvPr id="8" name="Rounded Rectangle 7"/>
          <p:cNvSpPr/>
          <p:nvPr/>
        </p:nvSpPr>
        <p:spPr>
          <a:xfrm>
            <a:off x="731520" y="3840480"/>
            <a:ext cx="5257800" cy="2194560"/>
          </a:xfrm>
          <a:prstGeom prst="roundRect">
            <a:avLst/>
          </a:prstGeom>
          <a:solidFill>
            <a:srgbClr val="F8FAF9"/>
          </a:solidFill>
          <a:ln w="15240">
            <a:solidFill>
              <a:srgbClr val="C8E1CD"/>
            </a:solidFill>
          </a:ln>
        </p:spPr>
        <p:style>
          <a:lnRef idx="1">
            <a:schemeClr val="accent1"/>
          </a:lnRef>
          <a:fillRef idx="3">
            <a:schemeClr val="accent1"/>
          </a:fillRef>
          <a:effectRef idx="2">
            <a:schemeClr val="accent1"/>
          </a:effectRef>
          <a:fontRef idx="minor">
            <a:schemeClr val="lt1"/>
          </a:fontRef>
        </p:style>
        <p:txBody>
          <a:bodyPr rtlCol="0" anchor="ctr" wrap="square" tIns="164592" lIns="182880" rIns="182880"/>
          <a:lstStyle/>
          <a:p>
            <a:pPr algn="ctr">
              <a:defRPr sz="1400" b="1">
                <a:solidFill>
                  <a:srgbClr val="103B2B"/>
                </a:solidFill>
              </a:defRPr>
            </a:pPr>
            <a:r>
              <a:t>🤖 Universal LLM &amp; Guardrails</a:t>
            </a:r>
          </a:p>
          <a:p>
            <a:pPr>
              <a:spcBef>
                <a:spcPts val="200"/>
              </a:spcBef>
              <a:defRPr sz="1100" b="1">
                <a:solidFill>
                  <a:srgbClr val="2E7D32"/>
                </a:solidFill>
              </a:defRPr>
            </a:pPr>
            <a:r>
              <a:t>Qwen 3.7 Plus • Groq • Prompt Engineering</a:t>
            </a:r>
          </a:p>
          <a:p>
            <a:pPr>
              <a:spcBef>
                <a:spcPts val="400"/>
              </a:spcBef>
              <a:defRPr sz="1150">
                <a:solidFill>
                  <a:srgbClr val="1E293B"/>
                </a:solidFill>
              </a:defRPr>
            </a:pPr>
            <a:r>
              <a:t>• Unified universal LLM client supporting Qwen 3.7 Plus, Groq, Google Gemini, and OpenAI.</a:t>
            </a:r>
          </a:p>
          <a:p>
            <a:pPr>
              <a:spcBef>
                <a:spcPts val="400"/>
              </a:spcBef>
              <a:defRPr sz="1150">
                <a:solidFill>
                  <a:srgbClr val="1E293B"/>
                </a:solidFill>
              </a:defRPr>
            </a:pPr>
            <a:r>
              <a:t>• Zero-hallucination system prompt enforcing strict grounding in retrieved evidence context.</a:t>
            </a:r>
          </a:p>
          <a:p>
            <a:pPr>
              <a:spcBef>
                <a:spcPts val="400"/>
              </a:spcBef>
              <a:defRPr sz="1150">
                <a:solidFill>
                  <a:srgbClr val="1E293B"/>
                </a:solidFill>
              </a:defRPr>
            </a:pPr>
            <a:r>
              <a:t>• Deterministic offline rule-based synthesis engine if cloud APIs are unreachable.</a:t>
            </a:r>
          </a:p>
        </p:txBody>
      </p:sp>
      <p:sp>
        <p:nvSpPr>
          <p:cNvPr id="9" name="Rounded Rectangle 8"/>
          <p:cNvSpPr/>
          <p:nvPr/>
        </p:nvSpPr>
        <p:spPr>
          <a:xfrm>
            <a:off x="6172200" y="3840480"/>
            <a:ext cx="5257800" cy="2194560"/>
          </a:xfrm>
          <a:prstGeom prst="roundRect">
            <a:avLst/>
          </a:prstGeom>
          <a:solidFill>
            <a:srgbClr val="F8FAF9"/>
          </a:solidFill>
          <a:ln w="15240">
            <a:solidFill>
              <a:srgbClr val="C8E1CD"/>
            </a:solidFill>
          </a:ln>
        </p:spPr>
        <p:style>
          <a:lnRef idx="1">
            <a:schemeClr val="accent1"/>
          </a:lnRef>
          <a:fillRef idx="3">
            <a:schemeClr val="accent1"/>
          </a:fillRef>
          <a:effectRef idx="2">
            <a:schemeClr val="accent1"/>
          </a:effectRef>
          <a:fontRef idx="minor">
            <a:schemeClr val="lt1"/>
          </a:fontRef>
        </p:style>
        <p:txBody>
          <a:bodyPr rtlCol="0" anchor="ctr" wrap="square" tIns="164592" lIns="182880" rIns="182880"/>
          <a:lstStyle/>
          <a:p>
            <a:pPr algn="ctr">
              <a:defRPr sz="1400" b="1">
                <a:solidFill>
                  <a:srgbClr val="103B2B"/>
                </a:solidFill>
              </a:defRPr>
            </a:pPr>
            <a:r>
              <a:t>🚀 Full-Stack Cloud Deployment</a:t>
            </a:r>
          </a:p>
          <a:p>
            <a:pPr>
              <a:spcBef>
                <a:spcPts val="200"/>
              </a:spcBef>
              <a:defRPr sz="1100" b="1">
                <a:solidFill>
                  <a:srgbClr val="2E7D32"/>
                </a:solidFill>
              </a:defRPr>
            </a:pPr>
            <a:r>
              <a:t>Streamlit Cloud • Open-Meteo REST API</a:t>
            </a:r>
          </a:p>
          <a:p>
            <a:pPr>
              <a:spcBef>
                <a:spcPts val="400"/>
              </a:spcBef>
              <a:defRPr sz="1150">
                <a:solidFill>
                  <a:srgbClr val="1E293B"/>
                </a:solidFill>
              </a:defRPr>
            </a:pPr>
            <a:r>
              <a:t>• Interactive multilingual UI with native RTL Nastaliq Urdu typesetting.</a:t>
            </a:r>
          </a:p>
          <a:p>
            <a:pPr>
              <a:spcBef>
                <a:spcPts val="400"/>
              </a:spcBef>
              <a:defRPr sz="1150">
                <a:solidFill>
                  <a:srgbClr val="1E293B"/>
                </a:solidFill>
              </a:defRPr>
            </a:pPr>
            <a:r>
              <a:t>• Single-thread PyTorch CPU optimization achieving ultra-low cloud RAM usage (&lt;200 MB).</a:t>
            </a:r>
          </a:p>
          <a:p>
            <a:pPr>
              <a:spcBef>
                <a:spcPts val="400"/>
              </a:spcBef>
              <a:defRPr sz="1150">
                <a:solidFill>
                  <a:srgbClr val="1E293B"/>
                </a:solidFill>
              </a:defRPr>
            </a:pPr>
            <a:r>
              <a:t>• Publicly deployed and live on Streamlit Community Cloud.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2E7D32"/>
                </a:solidFill>
                <a:latin typeface="Calibri"/>
              </a:defRPr>
            </a:pPr>
            <a:r>
              <a:t>ZARAI.AI (زرعی اے آئی)</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103B2B"/>
                </a:solidFill>
                <a:latin typeface="Calibri"/>
              </a:defRPr>
            </a:pPr>
            <a:r>
              <a:t>System Architecture &amp; Dataflow: From Field Photo to Action Plan</a:t>
            </a:r>
          </a:p>
        </p:txBody>
      </p:sp>
      <p:sp>
        <p:nvSpPr>
          <p:cNvPr id="5" name="TextBox 4"/>
          <p:cNvSpPr txBox="1"/>
          <p:nvPr/>
        </p:nvSpPr>
        <p:spPr>
          <a:xfrm>
            <a:off x="731520" y="6400800"/>
            <a:ext cx="10698480" cy="320040"/>
          </a:xfrm>
          <a:prstGeom prst="rect">
            <a:avLst/>
          </a:prstGeom>
          <a:noFill/>
        </p:spPr>
        <p:txBody>
          <a:bodyPr wrap="square" lIns="0" tIns="0" rIns="0" bIns="0">
            <a:spAutoFit/>
          </a:bodyPr>
          <a:lstStyle/>
          <a:p>
            <a:pPr>
              <a:defRPr sz="950">
                <a:solidFill>
                  <a:srgbClr val="64748B"/>
                </a:solidFill>
                <a:latin typeface="Calibri"/>
              </a:defRPr>
            </a:pPr>
            <a:r>
              <a:t>ZaraiAI • AI-Powered Crop Intelligence for Pakistan • University AI Capstone Presentation</a:t>
            </a:r>
          </a:p>
        </p:txBody>
      </p:sp>
      <p:sp>
        <p:nvSpPr>
          <p:cNvPr id="6" name="Rounded Rectangle 5"/>
          <p:cNvSpPr/>
          <p:nvPr/>
        </p:nvSpPr>
        <p:spPr>
          <a:xfrm>
            <a:off x="731520" y="1645920"/>
            <a:ext cx="2011680" cy="4114800"/>
          </a:xfrm>
          <a:prstGeom prst="roundRect">
            <a:avLst/>
          </a:prstGeom>
          <a:solidFill>
            <a:srgbClr val="F8FAF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182880" lIns="137160" rIns="137160"/>
          <a:lstStyle/>
          <a:p>
            <a:pPr algn="ctr">
              <a:defRPr sz="1200" b="1">
                <a:solidFill>
                  <a:srgbClr val="2E7D32"/>
                </a:solidFill>
              </a:defRPr>
            </a:pPr>
            <a:r>
              <a:t>📱 Step 1</a:t>
            </a:r>
          </a:p>
          <a:p>
            <a:pPr>
              <a:spcBef>
                <a:spcPts val="400"/>
              </a:spcBef>
              <a:defRPr sz="1400" b="1">
                <a:solidFill>
                  <a:srgbClr val="103B2B"/>
                </a:solidFill>
              </a:defRPr>
            </a:pPr>
            <a:r>
              <a:t>Farmer Input</a:t>
            </a:r>
          </a:p>
          <a:p>
            <a:pPr>
              <a:spcBef>
                <a:spcPts val="1200"/>
              </a:spcBef>
              <a:defRPr sz="1150">
                <a:solidFill>
                  <a:srgbClr val="1E293B"/>
                </a:solidFill>
              </a:defRPr>
            </a:pPr>
            <a:r>
              <a:t>Uploads leaf image, selects crop (Tomato/Cotton/Wheat) &amp; agricultural district.</a:t>
            </a:r>
          </a:p>
        </p:txBody>
      </p:sp>
      <p:sp>
        <p:nvSpPr>
          <p:cNvPr id="7" name="TextBox 6"/>
          <p:cNvSpPr txBox="1"/>
          <p:nvPr/>
        </p:nvSpPr>
        <p:spPr>
          <a:xfrm>
            <a:off x="2743200" y="3291840"/>
            <a:ext cx="182880" cy="365760"/>
          </a:xfrm>
          <a:prstGeom prst="rect">
            <a:avLst/>
          </a:prstGeom>
          <a:noFill/>
        </p:spPr>
        <p:txBody>
          <a:bodyPr wrap="none" lIns="0" tIns="0" rIns="0" bIns="0">
            <a:spAutoFit/>
          </a:bodyPr>
          <a:lstStyle/>
          <a:p>
            <a:pPr>
              <a:defRPr sz="1600" b="1">
                <a:solidFill>
                  <a:srgbClr val="2E7D32"/>
                </a:solidFill>
              </a:defRPr>
            </a:pPr>
            <a:r>
              <a:t>➔</a:t>
            </a:r>
          </a:p>
        </p:txBody>
      </p:sp>
      <p:sp>
        <p:nvSpPr>
          <p:cNvPr id="8" name="Rounded Rectangle 7"/>
          <p:cNvSpPr/>
          <p:nvPr/>
        </p:nvSpPr>
        <p:spPr>
          <a:xfrm>
            <a:off x="2907791" y="1645920"/>
            <a:ext cx="2011680" cy="4114800"/>
          </a:xfrm>
          <a:prstGeom prst="roundRect">
            <a:avLst/>
          </a:prstGeom>
          <a:solidFill>
            <a:srgbClr val="F8FAF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182880" lIns="137160" rIns="137160"/>
          <a:lstStyle/>
          <a:p>
            <a:pPr algn="ctr">
              <a:defRPr sz="1200" b="1">
                <a:solidFill>
                  <a:srgbClr val="2E7D32"/>
                </a:solidFill>
              </a:defRPr>
            </a:pPr>
            <a:r>
              <a:t>👁️ Step 2</a:t>
            </a:r>
          </a:p>
          <a:p>
            <a:pPr>
              <a:spcBef>
                <a:spcPts val="400"/>
              </a:spcBef>
              <a:defRPr sz="1400" b="1">
                <a:solidFill>
                  <a:srgbClr val="103B2B"/>
                </a:solidFill>
              </a:defRPr>
            </a:pPr>
            <a:r>
              <a:t>Vision Engine</a:t>
            </a:r>
          </a:p>
          <a:p>
            <a:pPr>
              <a:spcBef>
                <a:spcPts val="1200"/>
              </a:spcBef>
              <a:defRPr sz="1150">
                <a:solidFill>
                  <a:srgbClr val="1E293B"/>
                </a:solidFill>
              </a:defRPr>
            </a:pPr>
            <a:r>
              <a:t>EfficientNet-B0 infers pathology; Grad-CAM generates visual heatmap; checks 0.65 threshold.</a:t>
            </a:r>
          </a:p>
        </p:txBody>
      </p:sp>
      <p:sp>
        <p:nvSpPr>
          <p:cNvPr id="9" name="TextBox 8"/>
          <p:cNvSpPr txBox="1"/>
          <p:nvPr/>
        </p:nvSpPr>
        <p:spPr>
          <a:xfrm>
            <a:off x="4919471" y="3291840"/>
            <a:ext cx="182880" cy="365760"/>
          </a:xfrm>
          <a:prstGeom prst="rect">
            <a:avLst/>
          </a:prstGeom>
          <a:noFill/>
        </p:spPr>
        <p:txBody>
          <a:bodyPr wrap="none" lIns="0" tIns="0" rIns="0" bIns="0">
            <a:spAutoFit/>
          </a:bodyPr>
          <a:lstStyle/>
          <a:p>
            <a:pPr>
              <a:defRPr sz="1600" b="1">
                <a:solidFill>
                  <a:srgbClr val="2E7D32"/>
                </a:solidFill>
              </a:defRPr>
            </a:pPr>
            <a:r>
              <a:t>➔</a:t>
            </a:r>
          </a:p>
        </p:txBody>
      </p:sp>
      <p:sp>
        <p:nvSpPr>
          <p:cNvPr id="10" name="Rounded Rectangle 9"/>
          <p:cNvSpPr/>
          <p:nvPr/>
        </p:nvSpPr>
        <p:spPr>
          <a:xfrm>
            <a:off x="5084064" y="1645920"/>
            <a:ext cx="2011680" cy="4114800"/>
          </a:xfrm>
          <a:prstGeom prst="roundRect">
            <a:avLst/>
          </a:prstGeom>
          <a:solidFill>
            <a:srgbClr val="F8FAF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182880" lIns="137160" rIns="137160"/>
          <a:lstStyle/>
          <a:p>
            <a:pPr algn="ctr">
              <a:defRPr sz="1200" b="1">
                <a:solidFill>
                  <a:srgbClr val="2E7D32"/>
                </a:solidFill>
              </a:defRPr>
            </a:pPr>
            <a:r>
              <a:t>📚 Step 3</a:t>
            </a:r>
          </a:p>
          <a:p>
            <a:pPr>
              <a:spcBef>
                <a:spcPts val="400"/>
              </a:spcBef>
              <a:defRPr sz="1400" b="1">
                <a:solidFill>
                  <a:srgbClr val="103B2B"/>
                </a:solidFill>
              </a:defRPr>
            </a:pPr>
            <a:r>
              <a:t>RAG &amp; Weather</a:t>
            </a:r>
          </a:p>
          <a:p>
            <a:pPr>
              <a:spcBef>
                <a:spcPts val="1200"/>
              </a:spcBef>
              <a:defRPr sz="1150">
                <a:solidFill>
                  <a:srgbClr val="1E293B"/>
                </a:solidFill>
              </a:defRPr>
            </a:pPr>
            <a:r>
              <a:t>Retrieves crop-filtered Tier-1 IPM evidence chunks; Open-Meteo fetches rain/wind/temp.</a:t>
            </a:r>
          </a:p>
        </p:txBody>
      </p:sp>
      <p:sp>
        <p:nvSpPr>
          <p:cNvPr id="11" name="TextBox 10"/>
          <p:cNvSpPr txBox="1"/>
          <p:nvPr/>
        </p:nvSpPr>
        <p:spPr>
          <a:xfrm>
            <a:off x="7095744" y="3291840"/>
            <a:ext cx="182880" cy="365760"/>
          </a:xfrm>
          <a:prstGeom prst="rect">
            <a:avLst/>
          </a:prstGeom>
          <a:noFill/>
        </p:spPr>
        <p:txBody>
          <a:bodyPr wrap="none" lIns="0" tIns="0" rIns="0" bIns="0">
            <a:spAutoFit/>
          </a:bodyPr>
          <a:lstStyle/>
          <a:p>
            <a:pPr>
              <a:defRPr sz="1600" b="1">
                <a:solidFill>
                  <a:srgbClr val="2E7D32"/>
                </a:solidFill>
              </a:defRPr>
            </a:pPr>
            <a:r>
              <a:t>➔</a:t>
            </a:r>
          </a:p>
        </p:txBody>
      </p:sp>
      <p:sp>
        <p:nvSpPr>
          <p:cNvPr id="12" name="Rounded Rectangle 11"/>
          <p:cNvSpPr/>
          <p:nvPr/>
        </p:nvSpPr>
        <p:spPr>
          <a:xfrm>
            <a:off x="7260336" y="1645920"/>
            <a:ext cx="2011680" cy="4114800"/>
          </a:xfrm>
          <a:prstGeom prst="roundRect">
            <a:avLst/>
          </a:prstGeom>
          <a:solidFill>
            <a:srgbClr val="F8FAF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182880" lIns="137160" rIns="137160"/>
          <a:lstStyle/>
          <a:p>
            <a:pPr algn="ctr">
              <a:defRPr sz="1200" b="1">
                <a:solidFill>
                  <a:srgbClr val="2E7D32"/>
                </a:solidFill>
              </a:defRPr>
            </a:pPr>
            <a:r>
              <a:t>🛡️ Step 4</a:t>
            </a:r>
          </a:p>
          <a:p>
            <a:pPr>
              <a:spcBef>
                <a:spcPts val="400"/>
              </a:spcBef>
              <a:defRPr sz="1400" b="1">
                <a:solidFill>
                  <a:srgbClr val="103B2B"/>
                </a:solidFill>
              </a:defRPr>
            </a:pPr>
            <a:r>
              <a:t>Safety &amp; Synthesis</a:t>
            </a:r>
          </a:p>
          <a:p>
            <a:pPr>
              <a:spcBef>
                <a:spcPts val="1200"/>
              </a:spcBef>
              <a:defRPr sz="1150">
                <a:solidFill>
                  <a:srgbClr val="1E293B"/>
                </a:solidFill>
              </a:defRPr>
            </a:pPr>
            <a:r>
              <a:t>LLM reasons over evidence &amp; weather; Guardrail validates PHI and safety warnings.</a:t>
            </a:r>
          </a:p>
        </p:txBody>
      </p:sp>
      <p:sp>
        <p:nvSpPr>
          <p:cNvPr id="13" name="TextBox 12"/>
          <p:cNvSpPr txBox="1"/>
          <p:nvPr/>
        </p:nvSpPr>
        <p:spPr>
          <a:xfrm>
            <a:off x="9272016" y="3291840"/>
            <a:ext cx="182880" cy="365760"/>
          </a:xfrm>
          <a:prstGeom prst="rect">
            <a:avLst/>
          </a:prstGeom>
          <a:noFill/>
        </p:spPr>
        <p:txBody>
          <a:bodyPr wrap="none" lIns="0" tIns="0" rIns="0" bIns="0">
            <a:spAutoFit/>
          </a:bodyPr>
          <a:lstStyle/>
          <a:p>
            <a:pPr>
              <a:defRPr sz="1600" b="1">
                <a:solidFill>
                  <a:srgbClr val="2E7D32"/>
                </a:solidFill>
              </a:defRPr>
            </a:pPr>
            <a:r>
              <a:t>➔</a:t>
            </a:r>
          </a:p>
        </p:txBody>
      </p:sp>
      <p:sp>
        <p:nvSpPr>
          <p:cNvPr id="14" name="Rounded Rectangle 13"/>
          <p:cNvSpPr/>
          <p:nvPr/>
        </p:nvSpPr>
        <p:spPr>
          <a:xfrm>
            <a:off x="9436608" y="1645920"/>
            <a:ext cx="2011680" cy="4114800"/>
          </a:xfrm>
          <a:prstGeom prst="roundRect">
            <a:avLst/>
          </a:prstGeom>
          <a:solidFill>
            <a:srgbClr val="F8FAF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182880" lIns="137160" rIns="137160"/>
          <a:lstStyle/>
          <a:p>
            <a:pPr algn="ctr">
              <a:defRPr sz="1200" b="1">
                <a:solidFill>
                  <a:srgbClr val="2E7D32"/>
                </a:solidFill>
              </a:defRPr>
            </a:pPr>
            <a:r>
              <a:t>🌾 Step 5</a:t>
            </a:r>
          </a:p>
          <a:p>
            <a:pPr>
              <a:spcBef>
                <a:spcPts val="400"/>
              </a:spcBef>
              <a:defRPr sz="1400" b="1">
                <a:solidFill>
                  <a:srgbClr val="103B2B"/>
                </a:solidFill>
              </a:defRPr>
            </a:pPr>
            <a:r>
              <a:t>Multilingual UI</a:t>
            </a:r>
          </a:p>
          <a:p>
            <a:pPr>
              <a:spcBef>
                <a:spcPts val="1200"/>
              </a:spcBef>
              <a:defRPr sz="1150">
                <a:solidFill>
                  <a:srgbClr val="1E293B"/>
                </a:solidFill>
              </a:defRPr>
            </a:pPr>
            <a:r>
              <a:t>Presents action plan, spray safety badge, and authoritative source citations in Urdu/English.</a:t>
            </a:r>
          </a:p>
        </p:txBody>
      </p:sp>
      <p:sp>
        <p:nvSpPr>
          <p:cNvPr id="15" name="Rectangle 14"/>
          <p:cNvSpPr/>
          <p:nvPr/>
        </p:nvSpPr>
        <p:spPr>
          <a:xfrm>
            <a:off x="731520" y="5897880"/>
            <a:ext cx="10698480" cy="502920"/>
          </a:xfrm>
          <a:prstGeom prst="rect">
            <a:avLst/>
          </a:prstGeom>
          <a:solidFill>
            <a:srgbClr val="E8F5E9"/>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103B2B"/>
                </a:solidFill>
              </a:defRPr>
            </a:pPr>
            <a:r>
              <a:t>⚡ End-to-End Latency: &lt; 2.0 Seconds   •   Zero Hallucination Rate: 0.0%   •   Grounded Citation Rate: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2E7D32"/>
                </a:solidFill>
                <a:latin typeface="Calibri"/>
              </a:defRPr>
            </a:pPr>
            <a:r>
              <a:t>ZARAI.AI (زرعی اے آئی)</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103B2B"/>
                </a:solidFill>
                <a:latin typeface="Calibri"/>
              </a:defRPr>
            </a:pPr>
            <a:r>
              <a:t>Experimental Results &amp; Live Web Demonstration</a:t>
            </a:r>
          </a:p>
        </p:txBody>
      </p:sp>
      <p:sp>
        <p:nvSpPr>
          <p:cNvPr id="5" name="TextBox 4"/>
          <p:cNvSpPr txBox="1"/>
          <p:nvPr/>
        </p:nvSpPr>
        <p:spPr>
          <a:xfrm>
            <a:off x="731520" y="6400800"/>
            <a:ext cx="10698480" cy="320040"/>
          </a:xfrm>
          <a:prstGeom prst="rect">
            <a:avLst/>
          </a:prstGeom>
          <a:noFill/>
        </p:spPr>
        <p:txBody>
          <a:bodyPr wrap="square" lIns="0" tIns="0" rIns="0" bIns="0">
            <a:spAutoFit/>
          </a:bodyPr>
          <a:lstStyle/>
          <a:p>
            <a:pPr>
              <a:defRPr sz="950">
                <a:solidFill>
                  <a:srgbClr val="64748B"/>
                </a:solidFill>
                <a:latin typeface="Calibri"/>
              </a:defRPr>
            </a:pPr>
            <a:r>
              <a:t>ZaraiAI • AI-Powered Crop Intelligence for Pakistan • University AI Capstone Presentation</a:t>
            </a:r>
          </a:p>
        </p:txBody>
      </p:sp>
      <p:sp>
        <p:nvSpPr>
          <p:cNvPr id="6" name="Rounded Rectangle 5"/>
          <p:cNvSpPr/>
          <p:nvPr/>
        </p:nvSpPr>
        <p:spPr>
          <a:xfrm>
            <a:off x="731520" y="1463040"/>
            <a:ext cx="5303520" cy="4572000"/>
          </a:xfrm>
          <a:prstGeom prst="roundRect">
            <a:avLst/>
          </a:prstGeom>
          <a:solidFill>
            <a:srgbClr val="F8FAF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500" b="1">
                <a:solidFill>
                  <a:srgbClr val="103B2B"/>
                </a:solidFill>
              </a:defRPr>
            </a:pPr>
            <a:r>
              <a:t>📊 Rigorous Experimental Evaluation</a:t>
            </a:r>
          </a:p>
          <a:p>
            <a:pPr>
              <a:spcBef>
                <a:spcPts val="800"/>
              </a:spcBef>
              <a:defRPr sz="1200" b="1">
                <a:solidFill>
                  <a:srgbClr val="103B2B"/>
                </a:solidFill>
              </a:defRPr>
            </a:pPr>
            <a:r>
              <a:t>🌿 Cotton Classifier (5 Classes):</a:t>
            </a:r>
          </a:p>
          <a:p>
            <a:pPr>
              <a:defRPr sz="1100">
                <a:solidFill>
                  <a:srgbClr val="1E293B"/>
                </a:solidFill>
              </a:defRPr>
            </a:pPr>
            <a:r>
              <a:t>• Test Accuracy: 98.27%  |  Macro F1: 98.57%</a:t>
            </a:r>
            <a:br/>
            <a:r>
              <a:t>• Precision: 98.46%  |  Inference Latency: 27.8 ms</a:t>
            </a:r>
          </a:p>
          <a:p>
            <a:pPr>
              <a:spcBef>
                <a:spcPts val="800"/>
              </a:spcBef>
              <a:defRPr sz="1200" b="1">
                <a:solidFill>
                  <a:srgbClr val="103B2B"/>
                </a:solidFill>
              </a:defRPr>
            </a:pPr>
            <a:r>
              <a:t>🌾 Wheat Classifier (5 Classes):</a:t>
            </a:r>
          </a:p>
          <a:p>
            <a:pPr>
              <a:defRPr sz="1100">
                <a:solidFill>
                  <a:srgbClr val="1E293B"/>
                </a:solidFill>
              </a:defRPr>
            </a:pPr>
            <a:r>
              <a:t>• Test Accuracy: 97.30%  |  Macro F1: 96.99%</a:t>
            </a:r>
            <a:br/>
            <a:r>
              <a:t>• Precision: 96.95%  |  Inference Latency: 20.7 ms</a:t>
            </a:r>
          </a:p>
          <a:p>
            <a:pPr>
              <a:spcBef>
                <a:spcPts val="800"/>
              </a:spcBef>
              <a:defRPr sz="1200" b="1">
                <a:solidFill>
                  <a:srgbClr val="103B2B"/>
                </a:solidFill>
              </a:defRPr>
            </a:pPr>
            <a:r>
              <a:t>🍅 Tomato Classifier (6 Classes):</a:t>
            </a:r>
          </a:p>
          <a:p>
            <a:pPr>
              <a:defRPr sz="1100">
                <a:solidFill>
                  <a:srgbClr val="1E293B"/>
                </a:solidFill>
              </a:defRPr>
            </a:pPr>
            <a:r>
              <a:t>• Test Accuracy: 73.11% (Field condition noise)</a:t>
            </a:r>
            <a:br/>
            <a:r>
              <a:t>• Actively protected by &lt;0.65 uncertainty safety guardrail</a:t>
            </a:r>
          </a:p>
          <a:p>
            <a:pPr>
              <a:spcBef>
                <a:spcPts val="800"/>
              </a:spcBef>
              <a:defRPr sz="1200" b="1">
                <a:solidFill>
                  <a:srgbClr val="103B2B"/>
                </a:solidFill>
              </a:defRPr>
            </a:pPr>
            <a:r>
              <a:t>📚 Grounded RAG Benchmark (30 Queries):</a:t>
            </a:r>
          </a:p>
          <a:p>
            <a:pPr>
              <a:defRPr sz="1100">
                <a:solidFill>
                  <a:srgbClr val="1E293B"/>
                </a:solidFill>
              </a:defRPr>
            </a:pPr>
            <a:r>
              <a:t>• Successful Retrieval Rate: 100.0%</a:t>
            </a:r>
            <a:br/>
            <a:r>
              <a:t>• Crop Isolation Precision: 100.0%</a:t>
            </a:r>
            <a:br/>
            <a:r>
              <a:t>• Unsupported Claim / Hallucination Rate: 0.0%</a:t>
            </a:r>
          </a:p>
        </p:txBody>
      </p:sp>
      <p:sp>
        <p:nvSpPr>
          <p:cNvPr id="7" name="Rounded Rectangle 6"/>
          <p:cNvSpPr/>
          <p:nvPr/>
        </p:nvSpPr>
        <p:spPr>
          <a:xfrm>
            <a:off x="6217920" y="1463040"/>
            <a:ext cx="5212080" cy="4572000"/>
          </a:xfrm>
          <a:prstGeom prst="roundRect">
            <a:avLst/>
          </a:prstGeom>
          <a:solidFill>
            <a:srgbClr val="F8FAF9"/>
          </a:solidFill>
          <a:ln w="1905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500" b="1">
                <a:solidFill>
                  <a:srgbClr val="E65100"/>
                </a:solidFill>
              </a:defRPr>
            </a:pPr>
            <a:r>
              <a:t>💻 Live Application Demonstration</a:t>
            </a:r>
          </a:p>
          <a:p>
            <a:pPr>
              <a:spcBef>
                <a:spcPts val="800"/>
              </a:spcBef>
              <a:defRPr sz="1200" b="1">
                <a:solidFill>
                  <a:srgbClr val="103B2B"/>
                </a:solidFill>
              </a:defRPr>
            </a:pPr>
            <a:r>
              <a:t>🔬 Tab 1: Leaf Disease Diagnosis</a:t>
            </a:r>
          </a:p>
          <a:p>
            <a:pPr>
              <a:defRPr sz="1100">
                <a:solidFill>
                  <a:srgbClr val="1E293B"/>
                </a:solidFill>
              </a:defRPr>
            </a:pPr>
            <a:r>
              <a:t>• Uploads leaf photo, detects disease, visualizes Grad-CAM heatmap, evaluates spray suitability, and generates action plan.</a:t>
            </a:r>
          </a:p>
          <a:p>
            <a:pPr>
              <a:spcBef>
                <a:spcPts val="800"/>
              </a:spcBef>
              <a:defRPr sz="1200" b="1">
                <a:solidFill>
                  <a:srgbClr val="103B2B"/>
                </a:solidFill>
              </a:defRPr>
            </a:pPr>
            <a:r>
              <a:t>💬 Tab 2: Multilingual Agri Chatbot</a:t>
            </a:r>
          </a:p>
          <a:p>
            <a:pPr>
              <a:defRPr sz="1100">
                <a:solidFill>
                  <a:srgbClr val="1E293B"/>
                </a:solidFill>
              </a:defRPr>
            </a:pPr>
            <a:r>
              <a:t>• Interactive agricultural dialogue in English, Urdu (اردو), and Roman Urdu backed by authoritative citations.</a:t>
            </a:r>
          </a:p>
          <a:p>
            <a:pPr>
              <a:spcBef>
                <a:spcPts val="800"/>
              </a:spcBef>
              <a:defRPr sz="1200" b="1">
                <a:solidFill>
                  <a:srgbClr val="103B2B"/>
                </a:solidFill>
              </a:defRPr>
            </a:pPr>
            <a:r>
              <a:t>📚 Tab 3: Knowledge Base &amp; Audit</a:t>
            </a:r>
          </a:p>
          <a:p>
            <a:pPr>
              <a:defRPr sz="1100">
                <a:solidFill>
                  <a:srgbClr val="1E293B"/>
                </a:solidFill>
              </a:defRPr>
            </a:pPr>
            <a:r>
              <a:t>• Displays complete manifest of Tier-1 publications, SHA256 checksums, and dataset provenance.</a:t>
            </a:r>
          </a:p>
          <a:p>
            <a:pPr>
              <a:spcBef>
                <a:spcPts val="800"/>
              </a:spcBef>
              <a:defRPr sz="1200" b="1">
                <a:solidFill>
                  <a:srgbClr val="103B2B"/>
                </a:solidFill>
              </a:defRPr>
            </a:pPr>
            <a:r>
              <a:t>🌐 Live Deployment URL</a:t>
            </a:r>
          </a:p>
          <a:p>
            <a:pPr>
              <a:defRPr sz="1100">
                <a:solidFill>
                  <a:srgbClr val="1E293B"/>
                </a:solidFill>
              </a:defRPr>
            </a:pPr>
            <a:r>
              <a:t>• https://zaraiaitomatocottonwheat-sgmc3ltf5d8j8bujbrbd6b.streamlit.app/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2E7D32"/>
                </a:solidFill>
                <a:latin typeface="Calibri"/>
              </a:defRPr>
            </a:pPr>
            <a:r>
              <a:t>ZARAI.AI (زرعی اے آئی)</a:t>
            </a:r>
          </a:p>
        </p:txBody>
      </p:sp>
      <p:sp>
        <p:nvSpPr>
          <p:cNvPr id="4" name="TextBox 3"/>
          <p:cNvSpPr txBox="1"/>
          <p:nvPr/>
        </p:nvSpPr>
        <p:spPr>
          <a:xfrm>
            <a:off x="731520" y="658368"/>
            <a:ext cx="10698480" cy="640080"/>
          </a:xfrm>
          <a:prstGeom prst="rect">
            <a:avLst/>
          </a:prstGeom>
          <a:noFill/>
        </p:spPr>
        <p:txBody>
          <a:bodyPr wrap="square" lIns="0" tIns="0" rIns="0" bIns="0">
            <a:spAutoFit/>
          </a:bodyPr>
          <a:lstStyle/>
          <a:p>
            <a:pPr>
              <a:defRPr sz="2400" b="1">
                <a:solidFill>
                  <a:srgbClr val="103B2B"/>
                </a:solidFill>
                <a:latin typeface="Calibri"/>
              </a:defRPr>
            </a:pPr>
            <a:r>
              <a:t>Real-World Impact, Future Roadmap &amp; Conclusion</a:t>
            </a:r>
          </a:p>
        </p:txBody>
      </p:sp>
      <p:sp>
        <p:nvSpPr>
          <p:cNvPr id="5" name="TextBox 4"/>
          <p:cNvSpPr txBox="1"/>
          <p:nvPr/>
        </p:nvSpPr>
        <p:spPr>
          <a:xfrm>
            <a:off x="731520" y="6400800"/>
            <a:ext cx="10698480" cy="320040"/>
          </a:xfrm>
          <a:prstGeom prst="rect">
            <a:avLst/>
          </a:prstGeom>
          <a:noFill/>
        </p:spPr>
        <p:txBody>
          <a:bodyPr wrap="square" lIns="0" tIns="0" rIns="0" bIns="0">
            <a:spAutoFit/>
          </a:bodyPr>
          <a:lstStyle/>
          <a:p>
            <a:pPr>
              <a:defRPr sz="950">
                <a:solidFill>
                  <a:srgbClr val="64748B"/>
                </a:solidFill>
                <a:latin typeface="Calibri"/>
              </a:defRPr>
            </a:pPr>
            <a:r>
              <a:t>ZaraiAI • AI-Powered Crop Intelligence for Pakistan • University AI Capstone Presentation</a:t>
            </a:r>
          </a:p>
        </p:txBody>
      </p:sp>
      <p:sp>
        <p:nvSpPr>
          <p:cNvPr id="6" name="Rounded Rectangle 5"/>
          <p:cNvSpPr/>
          <p:nvPr/>
        </p:nvSpPr>
        <p:spPr>
          <a:xfrm>
            <a:off x="731520" y="1463040"/>
            <a:ext cx="5303520" cy="4572000"/>
          </a:xfrm>
          <a:prstGeom prst="roundRect">
            <a:avLst/>
          </a:prstGeom>
          <a:solidFill>
            <a:srgbClr val="F8FAF9"/>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500" b="1">
                <a:solidFill>
                  <a:srgbClr val="103B2B"/>
                </a:solidFill>
              </a:defRPr>
            </a:pPr>
            <a:r>
              <a:t>🌍 Socio-Economic Impact &amp; Value</a:t>
            </a:r>
          </a:p>
          <a:p>
            <a:pPr>
              <a:spcBef>
                <a:spcPts val="600"/>
              </a:spcBef>
              <a:defRPr sz="1150">
                <a:solidFill>
                  <a:srgbClr val="1E293B"/>
                </a:solidFill>
              </a:defRPr>
            </a:pPr>
            <a:r>
              <a:t>• Reduces crop yield losses by an estimated 20–30% through rapid early-stage intervention.</a:t>
            </a:r>
          </a:p>
          <a:p>
            <a:pPr>
              <a:spcBef>
                <a:spcPts val="600"/>
              </a:spcBef>
              <a:defRPr sz="1150">
                <a:solidFill>
                  <a:srgbClr val="1E293B"/>
                </a:solidFill>
              </a:defRPr>
            </a:pPr>
            <a:r>
              <a:t>• Prevents pesticide wastage and protects rural groundwater from chemical overspray.</a:t>
            </a:r>
          </a:p>
          <a:p>
            <a:pPr>
              <a:spcBef>
                <a:spcPts val="600"/>
              </a:spcBef>
              <a:defRPr sz="1150">
                <a:solidFill>
                  <a:srgbClr val="1E293B"/>
                </a:solidFill>
              </a:defRPr>
            </a:pPr>
            <a:r>
              <a:t>• Democratizes Tier-1 scientific agricultural knowledge for non-English speaking smallholders.</a:t>
            </a:r>
          </a:p>
          <a:p>
            <a:pPr>
              <a:spcBef>
                <a:spcPts val="1400"/>
              </a:spcBef>
              <a:defRPr sz="1400" b="1">
                <a:solidFill>
                  <a:srgbClr val="103B2B"/>
                </a:solidFill>
              </a:defRPr>
            </a:pPr>
            <a:r>
              <a:t>🔮 Future Roadmap</a:t>
            </a:r>
          </a:p>
          <a:p>
            <a:pPr>
              <a:spcBef>
                <a:spcPts val="400"/>
              </a:spcBef>
              <a:defRPr sz="1150">
                <a:solidFill>
                  <a:srgbClr val="1E293B"/>
                </a:solidFill>
              </a:defRPr>
            </a:pPr>
            <a:r>
              <a:t>• 📱 WhatsApp &amp; IVR Voice Bot integration for low-literacy rural accessibility.</a:t>
            </a:r>
          </a:p>
          <a:p>
            <a:pPr>
              <a:spcBef>
                <a:spcPts val="400"/>
              </a:spcBef>
              <a:defRPr sz="1150">
                <a:solidFill>
                  <a:srgbClr val="1E293B"/>
                </a:solidFill>
              </a:defRPr>
            </a:pPr>
            <a:r>
              <a:t>• 🗣️ Provincial voice localization (Punjabi, Sindhi, Pashto, Balochi).</a:t>
            </a:r>
          </a:p>
          <a:p>
            <a:pPr>
              <a:spcBef>
                <a:spcPts val="400"/>
              </a:spcBef>
              <a:defRPr sz="1150">
                <a:solidFill>
                  <a:srgbClr val="1E293B"/>
                </a:solidFill>
              </a:defRPr>
            </a:pPr>
            <a:r>
              <a:t>• 🛰️ Satellite NDVI multispectral imagery integration for early farm-scale scouting.</a:t>
            </a:r>
          </a:p>
          <a:p>
            <a:pPr>
              <a:spcBef>
                <a:spcPts val="400"/>
              </a:spcBef>
              <a:defRPr sz="1150">
                <a:solidFill>
                  <a:srgbClr val="1E293B"/>
                </a:solidFill>
              </a:defRPr>
            </a:pPr>
            <a:r>
              <a:t>• ⚡ Edge deployment with quantized ONNX / TFLite models on low-cost smartphones.</a:t>
            </a:r>
          </a:p>
        </p:txBody>
      </p:sp>
      <p:sp>
        <p:nvSpPr>
          <p:cNvPr id="7" name="Rounded Rectangle 6"/>
          <p:cNvSpPr/>
          <p:nvPr/>
        </p:nvSpPr>
        <p:spPr>
          <a:xfrm>
            <a:off x="6217920" y="1463040"/>
            <a:ext cx="5212080" cy="4572000"/>
          </a:xfrm>
          <a:prstGeom prst="roundRect">
            <a:avLst/>
          </a:prstGeom>
          <a:solidFill>
            <a:srgbClr val="103B2B"/>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defRPr sz="2000" b="1">
                <a:solidFill>
                  <a:srgbClr val="FFFFFF"/>
                </a:solidFill>
              </a:defRPr>
            </a:pPr>
            <a:r>
              <a:t>🌱 Conclusion</a:t>
            </a:r>
          </a:p>
          <a:p>
            <a:pPr>
              <a:spcBef>
                <a:spcPts val="1000"/>
              </a:spcBef>
              <a:defRPr sz="1300">
                <a:solidFill>
                  <a:srgbClr val="DCEDC8"/>
                </a:solidFill>
              </a:defRPr>
            </a:pPr>
            <a:r>
              <a:t>ZaraiAI demonstrates that AI in agriculture must be more than black-box image classification. By fusing computer vision explainability with grounded extension science and live meteorological safety, we deliver safe, actionable, and trustworthy intelligence to the farmers who feed our nation.</a:t>
            </a:r>
          </a:p>
          <a:p>
            <a:pPr>
              <a:spcBef>
                <a:spcPts val="2400"/>
              </a:spcBef>
              <a:defRPr sz="1600" b="1">
                <a:solidFill>
                  <a:srgbClr val="FFD54F"/>
                </a:solidFill>
              </a:defRPr>
            </a:pPr>
            <a:r>
              <a:t>Thank You!   •   Questions &amp; Discussion</a:t>
            </a:r>
          </a:p>
          <a:p>
            <a:pPr>
              <a:spcBef>
                <a:spcPts val="1000"/>
              </a:spcBef>
              <a:defRPr sz="1050">
                <a:solidFill>
                  <a:srgbClr val="A5D6A7"/>
                </a:solidFill>
              </a:defRPr>
            </a:pPr>
            <a:r>
              <a:t>GitHub: https://github.com/HussainAli-AI/ZaraiAI_Tomato_Cotton_Wheat</a:t>
            </a:r>
            <a:br/>
            <a:r>
              <a:t>Live App: https://zaraiaitomatocottonwheat-sgmc3ltf5d8j8bujbrbd6b.streamlit.app/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